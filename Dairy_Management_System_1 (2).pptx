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377440"/>
            <a:ext cx="5669280" cy="5669280"/>
          </a:xfrm>
          <a:prstGeom prst="ellipse">
            <a:avLst/>
          </a:prstGeom>
          <a:solidFill>
            <a:srgbClr val="0B5FA5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754880" cy="4754880"/>
          </a:xfrm>
          <a:prstGeom prst="ellipse">
            <a:avLst/>
          </a:prstGeom>
          <a:solidFill>
            <a:srgbClr val="1FA97C">
              <a:alpha val="3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868680" cy="868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320040"/>
            <a:ext cx="86868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347472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AHMEDNAGAR JILHA MARATHA VIDYA PRASARAK SAMAJ'S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554480" y="603504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Arts, Commerce and Science College, Ahmednagar (Autonomous)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554480" y="914400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Advanced Studies in Applied Sciences (CASAS)  |  Department of Computer Science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61104" y="1417320"/>
            <a:ext cx="3657600" cy="0"/>
          </a:xfrm>
          <a:prstGeom prst="line">
            <a:avLst/>
          </a:prstGeom>
          <a:noFill/>
          <a:ln w="12700">
            <a:solidFill>
              <a:srgbClr val="3E8F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App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Computer Science II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566160" y="45720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E8FC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4709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Saurabh Ashok &amp; Gayake Aditya Babasaheb
</a:t>
            </a:r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Bingare M. B. Madam
</a:t>
            </a:r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19-08-2026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Dairy Management System?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solution designed specifically for dairy businesses and farmers.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279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Records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90288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traditional paper-based record-keeping with a modern web application.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887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Management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smooth management of milk collection, daily rates, and farmer payments.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Purpose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Building This?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&amp; Automate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and automate daily dairy operations to achieve maximum efficiency.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279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Trust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90288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absolute transparency and trust between dairy owners and farmers.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887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calculation errors in billing and ledger management.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Scope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Project Cover?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local dairy cooperatives and independent farms.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279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90288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end-to-end processes: from milk collection to automated payment settlements.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192024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887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Exclusions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32004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physical hardware integration (e.g., weighing machines / fat testing machines) in the current phase.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Definition of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vs Out-of-Scope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1FA9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3385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31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546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998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for Admin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033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6484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profiles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197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Rate management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0060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47457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Ledger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34924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17320" y="5294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Reports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6263640" y="18745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698" y="2338578"/>
            <a:ext cx="352044" cy="3520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60920" y="2331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900" dirty="0"/>
          </a:p>
        </p:txBody>
      </p:sp>
      <p:sp>
        <p:nvSpPr>
          <p:cNvPr id="23" name="Shape 14"/>
          <p:cNvSpPr/>
          <p:nvPr/>
        </p:nvSpPr>
        <p:spPr>
          <a:xfrm>
            <a:off x="6629400" y="3182112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4" name="Text 15"/>
          <p:cNvSpPr/>
          <p:nvPr/>
        </p:nvSpPr>
        <p:spPr>
          <a:xfrm>
            <a:off x="7040880" y="30998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of cattle feed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6629400" y="3730752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17"/>
          <p:cNvSpPr/>
          <p:nvPr/>
        </p:nvSpPr>
        <p:spPr>
          <a:xfrm>
            <a:off x="7040880" y="36484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629400" y="4279392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8" name="Text 19"/>
          <p:cNvSpPr/>
          <p:nvPr/>
        </p:nvSpPr>
        <p:spPr>
          <a:xfrm>
            <a:off x="7040880" y="41970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(planned for future)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Project Scope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specific daily needs of local dairy operators.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65576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1608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67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94176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outlining the specific software features to be built.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91072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7104" y="2157984"/>
            <a:ext cx="566928" cy="56692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63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Verification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19672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feedback loops from potential users.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16568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2600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159" y="2285543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Control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45168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feature creep during the agile development cycle.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Scope Planning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468880"/>
            <a:ext cx="8476488" cy="27432"/>
          </a:xfrm>
          <a:prstGeom prst="rect">
            <a:avLst/>
          </a:prstGeom>
          <a:solidFill>
            <a:srgbClr val="E1E9E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0312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677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4015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Data Flow Diagrams &amp; UI/UX Design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11296" y="210312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677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65576" y="34015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Backend Setup (Supabase &amp; Node.js)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36792" y="210312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2677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91072" y="34015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Development (React.js) &amp; API Integration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162288" y="2103120"/>
            <a:ext cx="731520" cy="73152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26771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16568" y="3017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116568" y="34015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Bug Fixing, Security Audits, &amp; Final Deployment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Project Charter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31920" y="25603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Arts, Commerce and Science College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30632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Bhandari, Aditya Gayake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754880"/>
            <a:ext cx="8311896" cy="27432"/>
          </a:xfrm>
          <a:prstGeom prst="rect">
            <a:avLst/>
          </a:prstGeom>
          <a:solidFill>
            <a:srgbClr val="3E8FCB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434840"/>
            <a:ext cx="365760" cy="365760"/>
          </a:xfrm>
          <a:prstGeom prst="ellipse">
            <a:avLst/>
          </a:prstGeom>
          <a:solidFill>
            <a:srgbClr val="0B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47872" y="4434840"/>
            <a:ext cx="365760" cy="365760"/>
          </a:xfrm>
          <a:prstGeom prst="ellipse">
            <a:avLst/>
          </a:prstGeom>
          <a:solidFill>
            <a:srgbClr val="0B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4937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18504" y="4434840"/>
            <a:ext cx="365760" cy="365760"/>
          </a:xfrm>
          <a:prstGeom prst="ellipse">
            <a:avLst/>
          </a:prstGeom>
          <a:solidFill>
            <a:srgbClr val="0B5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318504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81344" y="4937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89136" y="4434840"/>
            <a:ext cx="365760" cy="365760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24" name="Text 22"/>
          <p:cNvSpPr/>
          <p:nvPr/>
        </p:nvSpPr>
        <p:spPr>
          <a:xfrm>
            <a:off x="9089136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51976" y="4937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Release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Dairies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dairies rely heavily on manual record-keeping via physical registers.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65576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1608" y="215798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67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Risk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94176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data loss, calculation errors, and data manipulation.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91072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7104" y="215798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63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Insight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19672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insights into daily collection and farmer ledgers.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16568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2600" y="215798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159" y="2285543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45168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 calculations leading to farmer dissatisfaction.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285543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Cloud-Based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highly secure, cloud-based Dairy Management System.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65576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1608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67" y="2285543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Rates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94176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complex milk rate calculations based on FAT and SNF parameters.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91072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7104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63" y="2285543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Reports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19672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 billing and detailed ledger reports instantly.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16568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2202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2600" y="2157984"/>
            <a:ext cx="566928" cy="56692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159" y="2285543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UI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45168" y="32004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responsive, user-friendly interface for dairy owners.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System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 Proposed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3385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31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461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91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registers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67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8130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rate calculations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8970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to find historical records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111496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50566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security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263640" y="18745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1FA97C"/>
          </a:solidFill>
          <a:ln/>
        </p:spPr>
      </p:sp>
      <p:sp>
        <p:nvSpPr>
          <p:cNvPr id="18" name="Shape 11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698" y="2338578"/>
            <a:ext cx="352044" cy="3520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60920" y="2331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246120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40880" y="3191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Dashboard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867912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040880" y="38130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rate charts</a:t>
            </a:r>
            <a:endParaRPr lang="en-US" sz="13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489704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4088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digital ledgers</a:t>
            </a:r>
            <a:endParaRPr lang="en-US" sz="13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111496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040880" y="50566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data storage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2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9304" y="214884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225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449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17556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(Responsive UI)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43784" y="187452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220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214884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3225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30449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980944" y="3520440"/>
            <a:ext cx="17556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API)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47488" y="187452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2202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96712" y="214884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3225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8928" y="30449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184648" y="3520440"/>
            <a:ext cx="17556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(Relational Data)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51192" y="187452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2202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00416" y="214884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3225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30449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88352" y="3520440"/>
            <a:ext cx="17556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454896" y="1874520"/>
            <a:ext cx="2029968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2202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04120" y="2148840"/>
            <a:ext cx="731520" cy="73152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32257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6336" y="304495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592056" y="3520440"/>
            <a:ext cx="17556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00" dirty="0"/>
          </a:p>
          <a:p>
            <a:pPr algn="ctr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System Modules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39112"/>
            <a:ext cx="475488" cy="47548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214609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025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" y="26060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65576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0168" y="2039112"/>
            <a:ext cx="475488" cy="47548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53" y="214609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20025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30168" y="26060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overview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91072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55664" y="2039112"/>
            <a:ext cx="475488" cy="47548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649" y="2146097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68312" y="20025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Management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55664" y="26060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profiles &amp; records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16568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81160" y="2039112"/>
            <a:ext cx="475488" cy="475488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8145" y="2146097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93808" y="20025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Collection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281160" y="26060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collection entry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3639312"/>
            <a:ext cx="475488" cy="47548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7" y="3746297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36027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Charts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04672" y="42062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milk rate charts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465576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30168" y="3639312"/>
            <a:ext cx="475488" cy="47548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153" y="3746297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242816" y="36027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630168" y="42062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settlements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91072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55664" y="3639312"/>
            <a:ext cx="475488" cy="47548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649" y="3746297"/>
            <a:ext cx="261518" cy="26151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068312" y="36027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455664" y="42062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&amp; ledger history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116568" y="3474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281160" y="3639312"/>
            <a:ext cx="475488" cy="475488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8145" y="3746297"/>
            <a:ext cx="261518" cy="26151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893808" y="36027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9281160" y="42062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export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Database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Entity-Relationship diagram designed for scale and integrity.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strict One-to-Many relationships ensuring data consistency.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32120" y="3840480"/>
            <a:ext cx="1097280" cy="10972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41148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636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74520" y="3383280"/>
            <a:ext cx="4206240" cy="1005840"/>
          </a:xfrm>
          <a:prstGeom prst="line">
            <a:avLst/>
          </a:prstGeom>
          <a:noFill/>
          <a:ln w="19050">
            <a:solidFill>
              <a:srgbClr val="E1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27048" y="3035808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32095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80560" y="3200400"/>
            <a:ext cx="1600200" cy="1188720"/>
          </a:xfrm>
          <a:prstGeom prst="line">
            <a:avLst/>
          </a:prstGeom>
          <a:noFill/>
          <a:ln w="19050">
            <a:solidFill>
              <a:srgbClr val="E1E9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33088" y="2852928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30266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602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Collection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80760" y="3200400"/>
            <a:ext cx="1600200" cy="1188720"/>
          </a:xfrm>
          <a:prstGeom prst="line">
            <a:avLst/>
          </a:prstGeom>
          <a:noFill/>
          <a:ln w="19050">
            <a:solidFill>
              <a:srgbClr val="E1E9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33488" y="2852928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302666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602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Rate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80760" y="3383280"/>
            <a:ext cx="4206240" cy="1005840"/>
          </a:xfrm>
          <a:prstGeom prst="line">
            <a:avLst/>
          </a:prstGeom>
          <a:noFill/>
          <a:ln w="19050">
            <a:solidFill>
              <a:srgbClr val="E1E9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939528" y="3035808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4" y="320954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7260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080760" y="4389120"/>
            <a:ext cx="9144" cy="1280160"/>
          </a:xfrm>
          <a:prstGeom prst="line">
            <a:avLst/>
          </a:prstGeom>
          <a:noFill/>
          <a:ln w="19050">
            <a:solidFill>
              <a:srgbClr val="E1E9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733288" y="5321808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549554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66360" y="6071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965960"/>
            <a:ext cx="7772400" cy="1051560"/>
          </a:xfrm>
          <a:prstGeom prst="roundRect">
            <a:avLst>
              <a:gd name="adj" fmla="val 7826"/>
            </a:avLst>
          </a:prstGeom>
          <a:solidFill>
            <a:srgbClr val="0B5FA5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0" y="214884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7465" y="23031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21305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91840" y="24963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Browser Application (Fast &amp; Responsive)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3072384"/>
            <a:ext cx="274320" cy="393192"/>
          </a:xfrm>
          <a:prstGeom prst="downArrow">
            <a:avLst/>
          </a:prstGeom>
          <a:solidFill>
            <a:srgbClr val="E1E9EE"/>
          </a:solidFill>
          <a:ln/>
        </p:spPr>
      </p:sp>
      <p:sp>
        <p:nvSpPr>
          <p:cNvPr id="11" name="Shape 8"/>
          <p:cNvSpPr/>
          <p:nvPr/>
        </p:nvSpPr>
        <p:spPr>
          <a:xfrm>
            <a:off x="2194560" y="3520440"/>
            <a:ext cx="7772400" cy="1051560"/>
          </a:xfrm>
          <a:prstGeom prst="roundRect">
            <a:avLst>
              <a:gd name="adj" fmla="val 7826"/>
            </a:avLst>
          </a:prstGeom>
          <a:solidFill>
            <a:srgbClr val="1FA97C"/>
          </a:solidFill>
          <a:ln/>
        </p:spPr>
      </p:sp>
      <p:sp>
        <p:nvSpPr>
          <p:cNvPr id="12" name="Shape 9"/>
          <p:cNvSpPr/>
          <p:nvPr/>
        </p:nvSpPr>
        <p:spPr>
          <a:xfrm>
            <a:off x="2423160" y="370332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465" y="385762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6850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291840" y="405079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 RESTful API (Secure &amp; Scalable)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0" y="4626864"/>
            <a:ext cx="274320" cy="393192"/>
          </a:xfrm>
          <a:prstGeom prst="downArrow">
            <a:avLst/>
          </a:prstGeom>
          <a:solidFill>
            <a:srgbClr val="E1E9EE"/>
          </a:solidFill>
          <a:ln/>
        </p:spPr>
      </p:sp>
      <p:sp>
        <p:nvSpPr>
          <p:cNvPr id="17" name="Shape 13"/>
          <p:cNvSpPr/>
          <p:nvPr/>
        </p:nvSpPr>
        <p:spPr>
          <a:xfrm>
            <a:off x="2194560" y="5074920"/>
            <a:ext cx="7772400" cy="1051560"/>
          </a:xfrm>
          <a:prstGeom prst="roundRect">
            <a:avLst>
              <a:gd name="adj" fmla="val 7826"/>
            </a:avLst>
          </a:prstGeom>
          <a:solidFill>
            <a:srgbClr val="0B1F3A"/>
          </a:solidFill>
          <a:ln/>
        </p:spPr>
      </p:sp>
      <p:sp>
        <p:nvSpPr>
          <p:cNvPr id="18" name="Shape 14"/>
          <p:cNvSpPr/>
          <p:nvPr/>
        </p:nvSpPr>
        <p:spPr>
          <a:xfrm>
            <a:off x="2423160" y="525780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465" y="5412105"/>
            <a:ext cx="377190" cy="3771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91840" y="523951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291840" y="560527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Database (Robust cloud storage)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Core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Can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46020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59003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Milk Collection Entry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446020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738" y="25900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Daily Rate Charts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83296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9328" y="2446020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346" y="259003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34856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Ledger Updates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96112" y="4393692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537710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Payment Management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61688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17720" y="4393692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738" y="4537710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Reports Export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83296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39328" y="4393692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346" y="4537710"/>
            <a:ext cx="352044" cy="3520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34856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Login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System Benefits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2029968" cy="2834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2377440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954" y="2533802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Paperless System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43784" y="2103120"/>
            <a:ext cx="2029968" cy="2834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11296" y="2377440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658" y="2533802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Daily Operations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47488" y="2103120"/>
            <a:ext cx="2029968" cy="2834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15000" y="2377440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362" y="2533802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 Prevents Data Loss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251192" y="2103120"/>
            <a:ext cx="2029968" cy="2834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918704" y="2377440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066" y="2533802"/>
            <a:ext cx="382219" cy="3822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88352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Calculation &amp; Billing Reports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454896" y="2103120"/>
            <a:ext cx="2029968" cy="2834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122408" y="2377440"/>
            <a:ext cx="694944" cy="694944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770" y="2533802"/>
            <a:ext cx="382219" cy="38221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92056" y="324612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Time Savings for Owners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548640" cy="4572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46020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59003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Android/iOS Application for Farmers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446020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738" y="25900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Code Support for Farmer IDs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83296" y="19202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9328" y="2446020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346" y="259003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34856" y="21031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SMS Notifications for daily receipts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96112" y="4393692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537710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Cloud Backups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361688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17720" y="4393692"/>
            <a:ext cx="640080" cy="640080"/>
          </a:xfrm>
          <a:prstGeom prst="ellipse">
            <a:avLst/>
          </a:prstGeom>
          <a:solidFill>
            <a:srgbClr val="0B5FA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738" y="4537710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for Milk Yield Trends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083296" y="3867912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39328" y="4393692"/>
            <a:ext cx="640080" cy="64008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346" y="4537710"/>
            <a:ext cx="352044" cy="3520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34856" y="40507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Feed Inventory &amp; Store System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Management System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solidFill>
            <a:srgbClr val="0B5FA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Tradition and Technology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Modernizes Operations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successfully modernizes traditional, manual dairy operations.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2194560"/>
            <a:ext cx="777240" cy="77724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79" y="236943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154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2000" y="36576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bridges the massive gap between digital technology and the local agricultural sector.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321040" y="2194560"/>
            <a:ext cx="777240" cy="777240"/>
          </a:xfrm>
          <a:prstGeom prst="ellipse">
            <a:avLst/>
          </a:prstGeom>
          <a:solidFill>
            <a:srgbClr val="1FA97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919" y="236943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3154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Trust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321040" y="36576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maximum efficiency, transparency, and accuracy for all stakeholders.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A97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657600"/>
            <a:ext cx="5120640" cy="5120640"/>
          </a:xfrm>
          <a:prstGeom prst="ellipse">
            <a:avLst/>
          </a:prstGeom>
          <a:solidFill>
            <a:srgbClr val="0B5FA5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64008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4008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Saurabh Ashok  •  Gayake Aditya Babasaheb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Bingare M. B. Madam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2026-08-15T16:54:03Z</dcterms:created>
  <dcterms:modified xsi:type="dcterms:W3CDTF">2026-08-15T16:54:03Z</dcterms:modified>
</cp:coreProperties>
</file>