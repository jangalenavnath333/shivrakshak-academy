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600200"/>
            <a:ext cx="5486400" cy="5486400"/>
          </a:xfrm>
          <a:prstGeom prst="ellipse">
            <a:avLst/>
          </a:prstGeom>
          <a:noFill/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-685800"/>
            <a:ext cx="3657600" cy="3657600"/>
          </a:xfrm>
          <a:prstGeom prst="ellipse">
            <a:avLst/>
          </a:prstGeom>
          <a:noFill/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"/>
            <a:ext cx="1082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spc="160">
                <a:solidFill>
                  <a:srgbClr val="94A3B8"/>
                </a:solidFill>
                <a:latin typeface="Calibri"/>
              </a:rPr>
              <a:t>AHMEDNAGAR JILHA MARATHA VIDYA PRASARAK SAMAJ'S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082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New Arts, Commerce and Science College, Ahmednagar (Autonomous)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1082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Center for Advanced Studies in Applied Sciences  ·  Department of Computer Science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1691640"/>
            <a:ext cx="1219200" cy="18288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1082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spc="240">
                <a:solidFill>
                  <a:srgbClr val="C8952A"/>
                </a:solidFill>
                <a:latin typeface="Calibri"/>
              </a:rPr>
              <a:t>FINAL YEAR PROJECT  ·  M.SC. COMPUTER SCIENCE 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06040"/>
            <a:ext cx="1082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Shivrakshak Academy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20440"/>
            <a:ext cx="1082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300" b="0">
                <a:solidFill>
                  <a:srgbClr val="E5C173"/>
                </a:solidFill>
                <a:latin typeface="Calibri"/>
              </a:rPr>
              <a:t>Academy Management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023360"/>
            <a:ext cx="1082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spc="60">
                <a:solidFill>
                  <a:srgbClr val="94A3B8"/>
                </a:solidFill>
                <a:latin typeface="Calibri"/>
              </a:rPr>
              <a:t>Police  ·  Army  ·  Navy  ·  MPSC   Bharti Pre-Training Institute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663440"/>
            <a:ext cx="10820400" cy="9525"/>
          </a:xfrm>
          <a:prstGeom prst="rect">
            <a:avLst/>
          </a:prstGeom>
          <a:solidFill>
            <a:srgbClr val="1E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937760"/>
            <a:ext cx="3423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spc="160">
                <a:solidFill>
                  <a:srgbClr val="C8952A"/>
                </a:solidFill>
                <a:latin typeface="Calibri"/>
              </a:rPr>
              <a:t>PRESENTED 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57800"/>
            <a:ext cx="3423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Navnath Babasaheb Jangale</a:t>
            </a:r>
          </a:p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Diksha Kiran Kadam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4040" y="4937760"/>
            <a:ext cx="3423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spc="160">
                <a:solidFill>
                  <a:srgbClr val="C8952A"/>
                </a:solidFill>
                <a:latin typeface="Calibri"/>
              </a:rPr>
              <a:t>GUIDED 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4040" y="5257800"/>
            <a:ext cx="3423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Prof. Bingare M. B. Madam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2280" y="4937760"/>
            <a:ext cx="3423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spc="160">
                <a:solidFill>
                  <a:srgbClr val="C8952A"/>
                </a:solidFill>
                <a:latin typeface="Calibri"/>
              </a:rPr>
              <a:t>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2280" y="5257800"/>
            <a:ext cx="3423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19 August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80">
                <a:solidFill>
                  <a:srgbClr val="C8952A"/>
                </a:solidFill>
                <a:latin typeface="Calibri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A1628"/>
                </a:solidFill>
                <a:latin typeface="Calibri"/>
              </a:rPr>
              <a:t>What This Presentation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502920" cy="2286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C8952A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0574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A1628"/>
                </a:solidFill>
                <a:latin typeface="Calibri"/>
              </a:rPr>
              <a:t>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2103120"/>
            <a:ext cx="533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Introduction, problem statement and 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834640"/>
            <a:ext cx="1082040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01752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C8952A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0632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A1628"/>
                </a:solidFill>
                <a:latin typeface="Calibri"/>
              </a:rPr>
              <a:t>Scope &amp;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3108960"/>
            <a:ext cx="533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Scope definition, management, phases and charter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840480"/>
            <a:ext cx="1082040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02336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C8952A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0690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A1628"/>
                </a:solidFill>
                <a:latin typeface="Calibri"/>
              </a:rPr>
              <a:t>System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4114800"/>
            <a:ext cx="533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Technology stack, architecture, database and modules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846320"/>
            <a:ext cx="1082040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02920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C8952A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0749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A1628"/>
                </a:solidFill>
                <a:latin typeface="Calibri"/>
              </a:rPr>
              <a:t>The Live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5120640"/>
            <a:ext cx="533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Screens from production, features, benefits and future scope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263640"/>
            <a:ext cx="7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40">
                <a:solidFill>
                  <a:srgbClr val="94A3B8"/>
                </a:solidFill>
                <a:latin typeface="Calibri"/>
              </a:rPr>
              <a:t>Shivrakshak Career Academy  ·  Academy Management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2636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C8952A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1188720"/>
            <a:ext cx="50292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9000" b="1">
                <a:solidFill>
                  <a:srgbClr val="142C47"/>
                </a:solidFill>
                <a:latin typeface="Calibri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286000"/>
            <a:ext cx="45720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60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20">
                <a:solidFill>
                  <a:srgbClr val="C8952A"/>
                </a:solidFill>
                <a:latin typeface="Calibri"/>
              </a:rPr>
              <a:t>SECTION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2608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3192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Understanding what the system is, the problems it solves and the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objectives it is built to achieve.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80">
                <a:solidFill>
                  <a:srgbClr val="C8952A"/>
                </a:solidFill>
                <a:latin typeface="Calibri"/>
              </a:rPr>
              <a:t>01 ·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A1628"/>
                </a:solidFill>
                <a:latin typeface="Calibri"/>
              </a:rPr>
              <a:t>What is the Academy Management System?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502920" cy="2286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882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single web platform that runs every operation of a competitive-exam coaching academy.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377440"/>
            <a:ext cx="342392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377440"/>
            <a:ext cx="54864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278892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C8952A"/>
                </a:solidFill>
                <a:latin typeface="Calibri"/>
              </a:rPr>
              <a:t>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2783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0A1628"/>
                </a:solidFill>
                <a:latin typeface="Calibri"/>
              </a:rPr>
              <a:t>Complete Digital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23360"/>
            <a:ext cx="27838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One connected system for admissions, student records, fees, exams, attendance and communication.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4040" y="2377440"/>
            <a:ext cx="342392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4040" y="2377440"/>
            <a:ext cx="54864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04080" y="278892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4080" y="27889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C8952A"/>
                </a:solidFill>
                <a:latin typeface="Calibri"/>
              </a:rPr>
              <a:t>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4080" y="3566160"/>
            <a:ext cx="2783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0A1628"/>
                </a:solidFill>
                <a:latin typeface="Calibri"/>
              </a:rPr>
              <a:t>Replaces Paper Registers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4080" y="4023360"/>
            <a:ext cx="27838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Handwritten admission forms, fee books and attendance registers become secure, searchable cloud records.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82280" y="2377440"/>
            <a:ext cx="342392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2280" y="2377440"/>
            <a:ext cx="54864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02320" y="278892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02320" y="27889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C8952A"/>
                </a:solidFill>
                <a:latin typeface="Calibri"/>
              </a:rPr>
              <a:t>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2320" y="3566160"/>
            <a:ext cx="2783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0A1628"/>
                </a:solidFill>
                <a:latin typeface="Calibri"/>
              </a:rPr>
              <a:t>Connects Every Stakeholder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2320" y="4023360"/>
            <a:ext cx="27838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Directors, staff, students and parents all work from the same live information, at any time.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6263640"/>
            <a:ext cx="7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40">
                <a:solidFill>
                  <a:srgbClr val="94A3B8"/>
                </a:solidFill>
                <a:latin typeface="Calibri"/>
              </a:rPr>
              <a:t>Shivrakshak Career Academy  ·  Academy Management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9000" y="62636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C8952A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80">
                <a:solidFill>
                  <a:srgbClr val="C8952A"/>
                </a:solidFill>
                <a:latin typeface="Calibri"/>
              </a:rPr>
              <a:t>02 ·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A1628"/>
                </a:solidFill>
                <a:latin typeface="Calibri"/>
              </a:rPr>
              <a:t>Challenges in Traditional Academies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502920" cy="2286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011680"/>
            <a:ext cx="24993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011680"/>
            <a:ext cx="54864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42316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C8952A"/>
                </a:solidFill>
                <a:latin typeface="Calibri"/>
              </a:rPr>
              <a:t>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1859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0A1628"/>
                </a:solidFill>
                <a:latin typeface="Calibri"/>
              </a:rPr>
              <a:t>Manual Registers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8592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Admission forms, fee books and attendance are all recorded on paper.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9480" y="2011680"/>
            <a:ext cx="24993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59480" y="2011680"/>
            <a:ext cx="54864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79520" y="242316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79520" y="24231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C8952A"/>
                </a:solidFill>
                <a:latin typeface="Calibri"/>
              </a:rPr>
              <a:t>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9520" y="3200400"/>
            <a:ext cx="1859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0A1628"/>
                </a:solidFill>
                <a:latin typeface="Calibri"/>
              </a:rPr>
              <a:t>Risk of Data 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9520" y="3657600"/>
            <a:ext cx="18592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Registers are damaged or misplaced and no backup of records exists.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011680"/>
            <a:ext cx="24993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160" y="2011680"/>
            <a:ext cx="54864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53200" y="242316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3200" y="24231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C8952A"/>
                </a:solidFill>
                <a:latin typeface="Calibri"/>
              </a:rPr>
              <a:t>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200" y="3200400"/>
            <a:ext cx="1859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0A1628"/>
                </a:solidFill>
                <a:latin typeface="Calibri"/>
              </a:rPr>
              <a:t>Parents Left Uninformed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200" y="3657600"/>
            <a:ext cx="18592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Families never learn about pending fees, absence or exam performance.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2011680"/>
            <a:ext cx="24993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840" y="2011680"/>
            <a:ext cx="54864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26880" y="242316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24231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C8952A"/>
                </a:solidFill>
                <a:latin typeface="Calibri"/>
              </a:rPr>
              <a:t>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200400"/>
            <a:ext cx="1859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0A1628"/>
                </a:solidFill>
                <a:latin typeface="Calibri"/>
              </a:rPr>
              <a:t>Slow Paperwork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657600"/>
            <a:ext cx="18592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Locating one student record takes several minutes of manual searching.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6263640"/>
            <a:ext cx="7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40">
                <a:solidFill>
                  <a:srgbClr val="94A3B8"/>
                </a:solidFill>
                <a:latin typeface="Calibri"/>
              </a:rPr>
              <a:t>Shivrakshak Career Academy  ·  Academy Management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49000" y="62636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C8952A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80">
                <a:solidFill>
                  <a:srgbClr val="C8952A"/>
                </a:solidFill>
                <a:latin typeface="Calibri"/>
              </a:rPr>
              <a:t>03 ·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A1628"/>
                </a:solidFill>
                <a:latin typeface="Calibri"/>
              </a:rPr>
              <a:t>What the Project Aims to Achieve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502920" cy="2286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011680"/>
            <a:ext cx="24993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011680"/>
            <a:ext cx="54864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42316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C8952A"/>
                </a:solidFill>
                <a:latin typeface="Calibri"/>
              </a:rPr>
              <a:t>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1859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0A1628"/>
                </a:solidFill>
                <a:latin typeface="Calibri"/>
              </a:rPr>
              <a:t>Secure Cloud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8592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Build a cloud platform where academy data is protected and never lost.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9480" y="2011680"/>
            <a:ext cx="24993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59480" y="2011680"/>
            <a:ext cx="54864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79520" y="242316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79520" y="24231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C8952A"/>
                </a:solidFill>
                <a:latin typeface="Calibri"/>
              </a:rPr>
              <a:t>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9520" y="3200400"/>
            <a:ext cx="1859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0A1628"/>
                </a:solidFill>
                <a:latin typeface="Calibri"/>
              </a:rPr>
              <a:t>Digital Admission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9520" y="3657600"/>
            <a:ext cx="18592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An online form that prints the academy's exact three-page paper format.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011680"/>
            <a:ext cx="24993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160" y="2011680"/>
            <a:ext cx="54864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53200" y="242316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3200" y="24231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C8952A"/>
                </a:solidFill>
                <a:latin typeface="Calibri"/>
              </a:rPr>
              <a:t>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200" y="3200400"/>
            <a:ext cx="1859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0A1628"/>
                </a:solidFill>
                <a:latin typeface="Calibri"/>
              </a:rPr>
              <a:t>Automated Communication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200" y="3657600"/>
            <a:ext cx="18592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Deliver fee, attendance and exam updates to parents automatically.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2011680"/>
            <a:ext cx="24993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840" y="2011680"/>
            <a:ext cx="54864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26880" y="242316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24231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C8952A"/>
                </a:solidFill>
                <a:latin typeface="Calibri"/>
              </a:rPr>
              <a:t>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200400"/>
            <a:ext cx="1859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0A1628"/>
                </a:solidFill>
                <a:latin typeface="Calibri"/>
              </a:rPr>
              <a:t>Effortless Interface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657600"/>
            <a:ext cx="18592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A Marathi, mobile-first interface that any staff member can operate.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6263640"/>
            <a:ext cx="7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40">
                <a:solidFill>
                  <a:srgbClr val="94A3B8"/>
                </a:solidFill>
                <a:latin typeface="Calibri"/>
              </a:rPr>
              <a:t>Shivrakshak Career Academy  ·  Academy Management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49000" y="62636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C8952A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1188720"/>
            <a:ext cx="50292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9000" b="1">
                <a:solidFill>
                  <a:srgbClr val="142C47"/>
                </a:solidFill>
                <a:latin typeface="Calibr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286000"/>
            <a:ext cx="45720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60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20">
                <a:solidFill>
                  <a:srgbClr val="C8952A"/>
                </a:solidFill>
                <a:latin typeface="Calibri"/>
              </a:rPr>
              <a:t>SECTION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2608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Scope &amp;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3192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What the project covers, how the scope is controlled and the phases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through which it was delivered.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80">
                <a:solidFill>
                  <a:srgbClr val="C8952A"/>
                </a:solidFill>
                <a:latin typeface="Calibri"/>
              </a:rPr>
              <a:t>04 · SCOPE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A1628"/>
                </a:solidFill>
                <a:latin typeface="Calibri"/>
              </a:rPr>
              <a:t>What Does This Project Cover?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502920" cy="2286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377440"/>
            <a:ext cx="342392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377440"/>
            <a:ext cx="54864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78892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C8952A"/>
                </a:solidFill>
                <a:latin typeface="Calibri"/>
              </a:rPr>
              <a:t>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66160"/>
            <a:ext cx="2783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0A1628"/>
                </a:solidFill>
                <a:latin typeface="Calibri"/>
              </a:rPr>
              <a:t>Target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23360"/>
            <a:ext cx="27838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Built for police, army and competitive-exam coaching academies across Maharashtra.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4040" y="2377440"/>
            <a:ext cx="342392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4040" y="2377440"/>
            <a:ext cx="54864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04080" y="278892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4080" y="27889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C8952A"/>
                </a:solidFill>
                <a:latin typeface="Calibri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4080" y="3566160"/>
            <a:ext cx="2783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0A1628"/>
                </a:solidFill>
                <a:latin typeface="Calibri"/>
              </a:rPr>
              <a:t>End-to-End 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4080" y="4023360"/>
            <a:ext cx="27838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From online admission and printed forms through exams, attendance and fee settlement.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2280" y="2377440"/>
            <a:ext cx="342392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2280" y="2377440"/>
            <a:ext cx="54864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02320" y="278892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2320" y="27889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C8952A"/>
                </a:solidFill>
                <a:latin typeface="Calibri"/>
              </a:rPr>
              <a:t>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2320" y="3566160"/>
            <a:ext cx="2783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0A1628"/>
                </a:solidFill>
                <a:latin typeface="Calibri"/>
              </a:rPr>
              <a:t>Current Exclusions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2320" y="4023360"/>
            <a:ext cx="27838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Biometric hardware, payment gateways and native mobile apps are deferred to a later phase.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6263640"/>
            <a:ext cx="7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40">
                <a:solidFill>
                  <a:srgbClr val="94A3B8"/>
                </a:solidFill>
                <a:latin typeface="Calibri"/>
              </a:rPr>
              <a:t>Shivrakshak Career Academy  ·  Academy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49000" y="62636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C8952A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80">
                <a:solidFill>
                  <a:srgbClr val="C8952A"/>
                </a:solidFill>
                <a:latin typeface="Calibri"/>
              </a:rPr>
              <a:t>05 · DEFINITION OF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A1628"/>
                </a:solidFill>
                <a:latin typeface="Calibri"/>
              </a:rPr>
              <a:t>In-Scope vs Out-of-Scope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502920" cy="2286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011680"/>
            <a:ext cx="5181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011680"/>
            <a:ext cx="5181600" cy="3657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31720"/>
            <a:ext cx="445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140">
                <a:solidFill>
                  <a:srgbClr val="2E7D5B"/>
                </a:solidFill>
                <a:latin typeface="Calibri"/>
              </a:rPr>
              <a:t>IN-SCOPE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2834640"/>
            <a:ext cx="445008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01752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7D5B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017520"/>
            <a:ext cx="408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A1628"/>
                </a:solidFill>
                <a:latin typeface="Calibri"/>
              </a:rPr>
              <a:t>Public website &amp; online admission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56616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7D5B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566160"/>
            <a:ext cx="408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A1628"/>
                </a:solidFill>
                <a:latin typeface="Calibri"/>
              </a:rPr>
              <a:t>Admin panel — students, fees, notices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1148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7D5B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114800"/>
            <a:ext cx="408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A1628"/>
                </a:solidFill>
                <a:latin typeface="Calibri"/>
              </a:rPr>
              <a:t>Online exam system with instant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66344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7D5B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663440"/>
            <a:ext cx="408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A1628"/>
                </a:solidFill>
                <a:latin typeface="Calibri"/>
              </a:rPr>
              <a:t>Attendance &amp; leave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21208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7D5B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12080"/>
            <a:ext cx="408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A1628"/>
                </a:solidFill>
                <a:latin typeface="Calibri"/>
              </a:rPr>
              <a:t>WhatsApp reminders to parents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4600" y="2011680"/>
            <a:ext cx="5181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24600" y="2011680"/>
            <a:ext cx="5181600" cy="36576"/>
          </a:xfrm>
          <a:prstGeom prst="rect">
            <a:avLst/>
          </a:prstGeom>
          <a:solidFill>
            <a:srgbClr val="B4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0360" y="2331720"/>
            <a:ext cx="445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140">
                <a:solidFill>
                  <a:srgbClr val="B43D3D"/>
                </a:solidFill>
                <a:latin typeface="Calibri"/>
              </a:rPr>
              <a:t>OUT-OF-SCOPE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90360" y="2834640"/>
            <a:ext cx="445008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0360" y="301752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B43D3D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6120" y="3017520"/>
            <a:ext cx="408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A1628"/>
                </a:solidFill>
                <a:latin typeface="Calibri"/>
              </a:rPr>
              <a:t>Biometric / fingerprint hardware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0360" y="356616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B43D3D"/>
                </a:solidFill>
                <a:latin typeface="Calibri"/>
              </a:rPr>
              <a:t>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6120" y="3566160"/>
            <a:ext cx="408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A1628"/>
                </a:solidFill>
                <a:latin typeface="Calibri"/>
              </a:rPr>
              <a:t>Online payment gateway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0360" y="41148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B43D3D"/>
                </a:solidFill>
                <a:latin typeface="Calibri"/>
              </a:rPr>
              <a:t>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6120" y="4114800"/>
            <a:ext cx="408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A1628"/>
                </a:solidFill>
                <a:latin typeface="Calibri"/>
              </a:rPr>
              <a:t>Native Android &amp; iOS applications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0360" y="466344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B43D3D"/>
                </a:solidFill>
                <a:latin typeface="Calibri"/>
              </a:rPr>
              <a:t>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6120" y="4663440"/>
            <a:ext cx="408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A1628"/>
                </a:solidFill>
                <a:latin typeface="Calibri"/>
              </a:rPr>
              <a:t>Hostel room allocation module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0360" y="521208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B43D3D"/>
                </a:solidFill>
                <a:latin typeface="Calibri"/>
              </a:rPr>
              <a:t>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6120" y="5212080"/>
            <a:ext cx="408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A1628"/>
                </a:solidFill>
                <a:latin typeface="Calibri"/>
              </a:rPr>
              <a:t>Transport &amp; vehicle tracking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6263640"/>
            <a:ext cx="7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40">
                <a:solidFill>
                  <a:srgbClr val="94A3B8"/>
                </a:solidFill>
                <a:latin typeface="Calibri"/>
              </a:rPr>
              <a:t>Shivrakshak Career Academy  ·  Academy Management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49000" y="62636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C8952A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80">
                <a:solidFill>
                  <a:srgbClr val="C8952A"/>
                </a:solidFill>
                <a:latin typeface="Calibri"/>
              </a:rPr>
              <a:t>06 · SCOPE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A1628"/>
                </a:solidFill>
                <a:latin typeface="Calibri"/>
              </a:rPr>
              <a:t>How the Scope Was Controlled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502920" cy="2286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011680"/>
            <a:ext cx="24993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011680"/>
            <a:ext cx="54864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42316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C8952A"/>
                </a:solidFill>
                <a:latin typeface="Calibri"/>
              </a:rPr>
              <a:t>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1859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0A1628"/>
                </a:solidFill>
                <a:latin typeface="Calibri"/>
              </a:rPr>
              <a:t>Requirements Gathering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8592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Studied the academy's existing paper forms and daily working routine.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9480" y="2011680"/>
            <a:ext cx="24993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59480" y="2011680"/>
            <a:ext cx="54864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79520" y="242316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79520" y="24231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C8952A"/>
                </a:solidFill>
                <a:latin typeface="Calibri"/>
              </a:rPr>
              <a:t>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9520" y="3200400"/>
            <a:ext cx="1859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0A1628"/>
                </a:solidFill>
                <a:latin typeface="Calibri"/>
              </a:rPr>
              <a:t>Scope Definition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9520" y="3657600"/>
            <a:ext cx="18592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Documented every module and feature before development began.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011680"/>
            <a:ext cx="24993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160" y="2011680"/>
            <a:ext cx="54864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53200" y="242316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3200" y="24231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C8952A"/>
                </a:solidFill>
                <a:latin typeface="Calibri"/>
              </a:rPr>
              <a:t>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200" y="3200400"/>
            <a:ext cx="1859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0A1628"/>
                </a:solidFill>
                <a:latin typeface="Calibri"/>
              </a:rPr>
              <a:t>Scope 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200" y="3657600"/>
            <a:ext cx="18592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Regular demonstrations to the directors for review and approval.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2011680"/>
            <a:ext cx="24993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840" y="2011680"/>
            <a:ext cx="54864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26880" y="242316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24231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C8952A"/>
                </a:solidFill>
                <a:latin typeface="Calibri"/>
              </a:rPr>
              <a:t>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200400"/>
            <a:ext cx="1859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0A1628"/>
                </a:solidFill>
                <a:latin typeface="Calibri"/>
              </a:rPr>
              <a:t>Scope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657600"/>
            <a:ext cx="18592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Each phase was locked before the next one started, preventing drift.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6263640"/>
            <a:ext cx="7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40">
                <a:solidFill>
                  <a:srgbClr val="94A3B8"/>
                </a:solidFill>
                <a:latin typeface="Calibri"/>
              </a:rPr>
              <a:t>Shivrakshak Career Academy  ·  Academy Management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49000" y="62636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C8952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80">
                <a:solidFill>
                  <a:srgbClr val="C8952A"/>
                </a:solidFill>
                <a:latin typeface="Calibri"/>
              </a:rPr>
              <a:t>07 · SCOPE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A1628"/>
                </a:solidFill>
                <a:latin typeface="Calibri"/>
              </a:rPr>
              <a:t>Development Phases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502920" cy="2286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3017520"/>
            <a:ext cx="10180320" cy="18288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697480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C8952A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03320"/>
            <a:ext cx="2499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A1628"/>
                </a:solidFill>
                <a:latin typeface="Calibri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0"/>
            <a:ext cx="23164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Requirement analysis, database design and UI/UX planning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80" y="2697480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9480" y="26974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C8952A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9480" y="3703320"/>
            <a:ext cx="2499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A1628"/>
                </a:solidFill>
                <a:latin typeface="Calibri"/>
              </a:rP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80" y="4114800"/>
            <a:ext cx="23164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Supabase schema, authentication and row-level security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160" y="2697480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3160" y="26974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C8952A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160" y="3703320"/>
            <a:ext cx="2499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A1628"/>
                </a:solidFill>
                <a:latin typeface="Calibri"/>
              </a:rP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160" y="4114800"/>
            <a:ext cx="23164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Next.js frontend, admin panel and student exam portal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2697480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26974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C8952A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3703320"/>
            <a:ext cx="2499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A1628"/>
                </a:solidFill>
                <a:latin typeface="Calibri"/>
              </a:rPr>
              <a:t>Phase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4114800"/>
            <a:ext cx="23164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Testing, security hardening and Vercel deployment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263640"/>
            <a:ext cx="7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40">
                <a:solidFill>
                  <a:srgbClr val="94A3B8"/>
                </a:solidFill>
                <a:latin typeface="Calibri"/>
              </a:rPr>
              <a:t>Shivrakshak Career Academy  ·  Academy Management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49000" y="62636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C8952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80">
                <a:solidFill>
                  <a:srgbClr val="C8952A"/>
                </a:solidFill>
                <a:latin typeface="Calibri"/>
              </a:rPr>
              <a:t>08 · PROJECT CHARTER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A1628"/>
                </a:solidFill>
                <a:latin typeface="Calibri"/>
              </a:rPr>
              <a:t>Charter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502920" cy="2286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011680"/>
            <a:ext cx="108204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011680"/>
            <a:ext cx="54864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3172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spc="100">
                <a:solidFill>
                  <a:srgbClr val="64748B"/>
                </a:solidFill>
                <a:latin typeface="Calibri"/>
              </a:rPr>
              <a:t>PROJECT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2331720"/>
            <a:ext cx="7254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A1628"/>
                </a:solidFill>
                <a:latin typeface="Calibri"/>
              </a:rPr>
              <a:t>Shivrakshak Academy Management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2697480"/>
            <a:ext cx="1008888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78892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spc="100">
                <a:solidFill>
                  <a:srgbClr val="64748B"/>
                </a:solidFill>
                <a:latin typeface="Calibri"/>
              </a:rPr>
              <a:t>PROJECT SPONSOR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2788920"/>
            <a:ext cx="7254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A1628"/>
                </a:solidFill>
                <a:latin typeface="Calibri"/>
              </a:rPr>
              <a:t>New Arts, Commerce and Science College, Ahmednagar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3154680"/>
            <a:ext cx="1008888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4612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spc="100">
                <a:solidFill>
                  <a:srgbClr val="64748B"/>
                </a:solidFill>
                <a:latin typeface="Calibri"/>
              </a:rPr>
              <a:t>PROJECT LEADS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246120"/>
            <a:ext cx="7254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A1628"/>
                </a:solidFill>
                <a:latin typeface="Calibri"/>
              </a:rPr>
              <a:t>Navnath Babasaheb Jangale  ·  Diksha Kiran Kadam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14800"/>
            <a:ext cx="1082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80">
                <a:solidFill>
                  <a:srgbClr val="C8952A"/>
                </a:solidFill>
                <a:latin typeface="Calibri"/>
              </a:rPr>
              <a:t>MILESTONES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00200" y="5134356"/>
            <a:ext cx="8991600" cy="18288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4460" y="4937760"/>
            <a:ext cx="411480" cy="411480"/>
          </a:xfrm>
          <a:prstGeom prst="ellipse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4460" y="49377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C8952A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4864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0A1628"/>
                </a:solidFill>
                <a:latin typeface="Calibri"/>
              </a:rPr>
              <a:t>Design &amp; Planning</a:t>
            </a:r>
          </a:p>
        </p:txBody>
      </p:sp>
      <p:sp>
        <p:nvSpPr>
          <p:cNvPr id="20" name="Oval 19"/>
          <p:cNvSpPr/>
          <p:nvPr/>
        </p:nvSpPr>
        <p:spPr>
          <a:xfrm>
            <a:off x="4391660" y="4937760"/>
            <a:ext cx="411480" cy="411480"/>
          </a:xfrm>
          <a:prstGeom prst="ellipse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1660" y="49377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C8952A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0120" y="54864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0A1628"/>
                </a:solidFill>
                <a:latin typeface="Calibri"/>
              </a:rPr>
              <a:t>Core Modules</a:t>
            </a:r>
          </a:p>
        </p:txBody>
      </p:sp>
      <p:sp>
        <p:nvSpPr>
          <p:cNvPr id="23" name="Oval 22"/>
          <p:cNvSpPr/>
          <p:nvPr/>
        </p:nvSpPr>
        <p:spPr>
          <a:xfrm>
            <a:off x="7388860" y="4937760"/>
            <a:ext cx="411480" cy="411480"/>
          </a:xfrm>
          <a:prstGeom prst="ellipse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88860" y="49377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C8952A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7320" y="54864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0A1628"/>
                </a:solidFill>
                <a:latin typeface="Calibri"/>
              </a:rPr>
              <a:t>Exams &amp; Attendance</a:t>
            </a:r>
          </a:p>
        </p:txBody>
      </p:sp>
      <p:sp>
        <p:nvSpPr>
          <p:cNvPr id="26" name="Oval 25"/>
          <p:cNvSpPr/>
          <p:nvPr/>
        </p:nvSpPr>
        <p:spPr>
          <a:xfrm>
            <a:off x="10386060" y="4937760"/>
            <a:ext cx="411480" cy="411480"/>
          </a:xfrm>
          <a:prstGeom prst="ellipse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86060" y="49377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C8952A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94520" y="54864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0A1628"/>
                </a:solidFill>
                <a:latin typeface="Calibri"/>
              </a:rPr>
              <a:t>Final Release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6263640"/>
            <a:ext cx="7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40">
                <a:solidFill>
                  <a:srgbClr val="94A3B8"/>
                </a:solidFill>
                <a:latin typeface="Calibri"/>
              </a:rPr>
              <a:t>Shivrakshak Career Academy  ·  Academy Management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49000" y="62636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C8952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1188720"/>
            <a:ext cx="50292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9000" b="1">
                <a:solidFill>
                  <a:srgbClr val="142C47"/>
                </a:solidFill>
                <a:latin typeface="Calibri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286000"/>
            <a:ext cx="45720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60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20">
                <a:solidFill>
                  <a:srgbClr val="C8952A"/>
                </a:solidFill>
                <a:latin typeface="Calibri"/>
              </a:rPr>
              <a:t>SECTION THREE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2608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System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3192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The technology chosen, how the application is layered and how the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data is structured.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80">
                <a:solidFill>
                  <a:srgbClr val="C8952A"/>
                </a:solidFill>
                <a:latin typeface="Calibri"/>
              </a:rPr>
              <a:t>09 ·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A1628"/>
                </a:solidFill>
                <a:latin typeface="Calibri"/>
              </a:rPr>
              <a:t>Tools &amp; Technologies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502920" cy="2286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286000"/>
            <a:ext cx="19812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286000"/>
            <a:ext cx="198120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9220" y="2651760"/>
            <a:ext cx="594360" cy="59436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9220" y="265176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C8952A"/>
                </a:solidFill>
                <a:latin typeface="Calibri"/>
              </a:rPr>
              <a:t>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198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A1628"/>
                </a:solidFill>
                <a:latin typeface="Calibri"/>
              </a:rPr>
              <a:t>Frontend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93520" y="3886200"/>
            <a:ext cx="36576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069080"/>
            <a:ext cx="1706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Next.js 16</a:t>
            </a:r>
          </a:p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React 19</a:t>
            </a:r>
          </a:p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TypeScript</a:t>
            </a:r>
          </a:p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Tailwind CSS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5600" y="2286000"/>
            <a:ext cx="19812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95600" y="2286000"/>
            <a:ext cx="198120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89020" y="2651760"/>
            <a:ext cx="594360" cy="59436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9020" y="265176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C8952A"/>
                </a:solidFill>
                <a:latin typeface="Calibri"/>
              </a:rPr>
              <a:t>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5600" y="3474720"/>
            <a:ext cx="198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A1628"/>
                </a:solidFill>
                <a:latin typeface="Calibri"/>
              </a:rPr>
              <a:t>Backend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03320" y="3886200"/>
            <a:ext cx="36576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2760" y="4069080"/>
            <a:ext cx="1706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Next.js API Routes</a:t>
            </a:r>
          </a:p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Server Actions</a:t>
            </a:r>
          </a:p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Node.js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05400" y="2286000"/>
            <a:ext cx="19812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05400" y="2286000"/>
            <a:ext cx="198120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98820" y="2651760"/>
            <a:ext cx="594360" cy="59436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98820" y="265176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C8952A"/>
                </a:solidFill>
                <a:latin typeface="Calibri"/>
              </a:rPr>
              <a:t>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5400" y="3474720"/>
            <a:ext cx="198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A1628"/>
                </a:solidFill>
                <a:latin typeface="Calibri"/>
              </a:rPr>
              <a:t>Database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13120" y="3886200"/>
            <a:ext cx="36576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42560" y="4069080"/>
            <a:ext cx="1706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Supabase</a:t>
            </a:r>
          </a:p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PostgreSQL</a:t>
            </a:r>
          </a:p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Row Level Security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2286000"/>
            <a:ext cx="19812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0" y="2286000"/>
            <a:ext cx="198120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08620" y="2651760"/>
            <a:ext cx="594360" cy="59436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8620" y="265176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C8952A"/>
                </a:solidFill>
                <a:latin typeface="Calibri"/>
              </a:rPr>
              <a:t>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474720"/>
            <a:ext cx="198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A1628"/>
                </a:solidFill>
                <a:latin typeface="Calibri"/>
              </a:rPr>
              <a:t>Security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22920" y="3886200"/>
            <a:ext cx="36576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2360" y="4069080"/>
            <a:ext cx="1706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Supabase Auth</a:t>
            </a:r>
          </a:p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JWT Sessions</a:t>
            </a:r>
          </a:p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Role-based Access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25000" y="2286000"/>
            <a:ext cx="19812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25000" y="2286000"/>
            <a:ext cx="198120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218420" y="2651760"/>
            <a:ext cx="594360" cy="59436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18420" y="265176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C8952A"/>
                </a:solidFill>
                <a:latin typeface="Calibri"/>
              </a:rPr>
              <a:t>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25000" y="3474720"/>
            <a:ext cx="198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A1628"/>
                </a:solidFill>
                <a:latin typeface="Calibri"/>
              </a:rPr>
              <a:t>Deployment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332720" y="3886200"/>
            <a:ext cx="36576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62160" y="4069080"/>
            <a:ext cx="1706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Vercel</a:t>
            </a:r>
          </a:p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GitHub CI/CD</a:t>
            </a:r>
          </a:p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Supabase Storage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6263640"/>
            <a:ext cx="7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40">
                <a:solidFill>
                  <a:srgbClr val="94A3B8"/>
                </a:solidFill>
                <a:latin typeface="Calibri"/>
              </a:rPr>
              <a:t>Shivrakshak Career Academy  ·  Academy Management System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49000" y="62636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C8952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80">
                <a:solidFill>
                  <a:srgbClr val="C8952A"/>
                </a:solidFill>
                <a:latin typeface="Calibri"/>
              </a:rPr>
              <a:t>10 ·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A1628"/>
                </a:solidFill>
                <a:latin typeface="Calibri"/>
              </a:rPr>
              <a:t>Three-Tier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502920" cy="2286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81200" y="2194560"/>
            <a:ext cx="8229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981200" y="2194560"/>
            <a:ext cx="27432" cy="100584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55520" y="2377440"/>
            <a:ext cx="640080" cy="64008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55520" y="23774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C8952A"/>
                </a:solidFill>
                <a:latin typeface="Calibri"/>
              </a:rPr>
              <a:t>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78480" y="24231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A1628"/>
                </a:solidFill>
                <a:latin typeface="Calibri"/>
              </a:rPr>
              <a:t>Presentation 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8480" y="2788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8952A"/>
                </a:solidFill>
                <a:latin typeface="Calibri"/>
              </a:rPr>
              <a:t>Next.js React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320" y="2194560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Public website · Admin panel · Student exam portal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6004560" y="3246120"/>
            <a:ext cx="182880" cy="228600"/>
          </a:xfrm>
          <a:prstGeom prst="downArrow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81200" y="3520440"/>
            <a:ext cx="8229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81200" y="3520440"/>
            <a:ext cx="27432" cy="100584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255520" y="3703320"/>
            <a:ext cx="640080" cy="64008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55520" y="37033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C8952A"/>
                </a:solidFill>
                <a:latin typeface="Calibri"/>
              </a:rPr>
              <a:t>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8480" y="37490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A1628"/>
                </a:solidFill>
                <a:latin typeface="Calibri"/>
              </a:rPr>
              <a:t>Application 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8480" y="4114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8952A"/>
                </a:solidFill>
                <a:latin typeface="Calibri"/>
              </a:rPr>
              <a:t>Next.js API routes &amp; server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320" y="3520440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Business rules · Validation · Authentication · PDF generation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004560" y="4572000"/>
            <a:ext cx="182880" cy="228600"/>
          </a:xfrm>
          <a:prstGeom prst="downArrow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81200" y="4846320"/>
            <a:ext cx="8229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81200" y="4846320"/>
            <a:ext cx="27432" cy="100584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255520" y="5029200"/>
            <a:ext cx="640080" cy="64008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55520" y="50292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C8952A"/>
                </a:solidFill>
                <a:latin typeface="Calibri"/>
              </a:rPr>
              <a:t>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78480" y="50749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A1628"/>
                </a:solidFill>
                <a:latin typeface="Calibri"/>
              </a:rPr>
              <a:t>Data Tier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78480" y="5440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8952A"/>
                </a:solidFill>
                <a:latin typeface="Calibri"/>
              </a:rPr>
              <a:t>Supabase PostgreSQL &amp; Storage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320" y="4846320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Tables · Row Level Security · Document storage · Backups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6263640"/>
            <a:ext cx="7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40">
                <a:solidFill>
                  <a:srgbClr val="94A3B8"/>
                </a:solidFill>
                <a:latin typeface="Calibri"/>
              </a:rPr>
              <a:t>Shivrakshak Career Academy  ·  Academy Management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49000" y="62636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C8952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80">
                <a:solidFill>
                  <a:srgbClr val="C8952A"/>
                </a:solidFill>
                <a:latin typeface="Calibri"/>
              </a:rPr>
              <a:t>11 · 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A1628"/>
                </a:solidFill>
                <a:latin typeface="Calibri"/>
              </a:rPr>
              <a:t>Entity Relationship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502920" cy="2286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882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PostgreSQL on Supabase — every table links back to a single student record, protected by Row Level Security.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54480" y="3337560"/>
            <a:ext cx="4541520" cy="365760"/>
          </a:xfrm>
          <a:prstGeom prst="bentConnector3">
            <a:avLst/>
          </a:prstGeom>
          <a:ln w="15875">
            <a:solidFill>
              <a:srgbClr val="DD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389120" y="3337560"/>
            <a:ext cx="1706880" cy="365760"/>
          </a:xfrm>
          <a:prstGeom prst="bentConnector3">
            <a:avLst/>
          </a:prstGeom>
          <a:ln w="15875">
            <a:solidFill>
              <a:srgbClr val="DD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6096000" y="3337560"/>
            <a:ext cx="1127760" cy="365760"/>
          </a:xfrm>
          <a:prstGeom prst="bentConnector3">
            <a:avLst/>
          </a:prstGeom>
          <a:ln w="15875">
            <a:solidFill>
              <a:srgbClr val="DD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096000" y="3337560"/>
            <a:ext cx="3962400" cy="365760"/>
          </a:xfrm>
          <a:prstGeom prst="bentConnector3">
            <a:avLst/>
          </a:prstGeom>
          <a:ln w="15875">
            <a:solidFill>
              <a:srgbClr val="DD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240280" y="4526280"/>
            <a:ext cx="3855720" cy="502920"/>
          </a:xfrm>
          <a:prstGeom prst="bentConnector3">
            <a:avLst/>
          </a:prstGeom>
          <a:ln w="15875">
            <a:solidFill>
              <a:srgbClr val="DD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096000" y="4526280"/>
            <a:ext cx="0" cy="502920"/>
          </a:xfrm>
          <a:prstGeom prst="bentConnector3">
            <a:avLst/>
          </a:prstGeom>
          <a:ln w="15875">
            <a:solidFill>
              <a:srgbClr val="DD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6096000" y="4526280"/>
            <a:ext cx="3459480" cy="502920"/>
          </a:xfrm>
          <a:prstGeom prst="bentConnector3">
            <a:avLst/>
          </a:prstGeom>
          <a:ln w="15875">
            <a:solidFill>
              <a:srgbClr val="DD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85800" y="2743200"/>
            <a:ext cx="1737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74320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spc="80">
                <a:solidFill>
                  <a:srgbClr val="0A1628"/>
                </a:solidFill>
                <a:latin typeface="Calibri"/>
              </a:rPr>
              <a:t>FEE PAYMENTS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2743200"/>
            <a:ext cx="1737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74320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spc="80">
                <a:solidFill>
                  <a:srgbClr val="0A1628"/>
                </a:solidFill>
                <a:latin typeface="Calibri"/>
              </a:rPr>
              <a:t>DOCUMENTS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2743200"/>
            <a:ext cx="1737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74320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spc="80">
                <a:solidFill>
                  <a:srgbClr val="0A1628"/>
                </a:solidFill>
                <a:latin typeface="Calibri"/>
              </a:rPr>
              <a:t>EXAM ATTEMPTS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2743200"/>
            <a:ext cx="1737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274320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spc="80">
                <a:solidFill>
                  <a:srgbClr val="0A1628"/>
                </a:solidFill>
                <a:latin typeface="Calibri"/>
              </a:rPr>
              <a:t>ATTENDANCE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5029200"/>
            <a:ext cx="1737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502920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spc="80">
                <a:solidFill>
                  <a:srgbClr val="0A1628"/>
                </a:solidFill>
                <a:latin typeface="Calibri"/>
              </a:rPr>
              <a:t>LEAVE REQUESTS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27320" y="5029200"/>
            <a:ext cx="1737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27320" y="502920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spc="80">
                <a:solidFill>
                  <a:srgbClr val="0A1628"/>
                </a:solidFill>
                <a:latin typeface="Calibri"/>
              </a:rPr>
              <a:t>NOTICES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5029200"/>
            <a:ext cx="1737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502920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spc="80">
                <a:solidFill>
                  <a:srgbClr val="0A1628"/>
                </a:solidFill>
                <a:latin typeface="Calibri"/>
              </a:rPr>
              <a:t>MESS RECORDS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98720" y="3703320"/>
            <a:ext cx="2194560" cy="8229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98720" y="3703320"/>
            <a:ext cx="219456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98720" y="370332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spc="160">
                <a:solidFill>
                  <a:srgbClr val="FFFFFF"/>
                </a:solidFill>
                <a:latin typeface="Calibri"/>
              </a:rPr>
              <a:t>STUDENTS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6263640"/>
            <a:ext cx="7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40">
                <a:solidFill>
                  <a:srgbClr val="94A3B8"/>
                </a:solidFill>
                <a:latin typeface="Calibri"/>
              </a:rPr>
              <a:t>Shivrakshak Career Academy  ·  Academy Management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49000" y="62636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C8952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80">
                <a:solidFill>
                  <a:srgbClr val="C8952A"/>
                </a:solidFill>
                <a:latin typeface="Calibri"/>
              </a:rPr>
              <a:t>12 · SYSTEM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A1628"/>
                </a:solidFill>
                <a:latin typeface="Calibri"/>
              </a:rPr>
              <a:t>Core Application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502920" cy="2286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194560"/>
            <a:ext cx="24993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94560"/>
            <a:ext cx="41148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2514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C8952A"/>
                </a:solidFill>
                <a:latin typeface="Calibri"/>
              </a:rPr>
              <a:t>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514600"/>
            <a:ext cx="1356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A1628"/>
                </a:solidFill>
                <a:latin typeface="Calibri"/>
              </a:rPr>
              <a:t>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08960"/>
            <a:ext cx="195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Admin &amp; student login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9480" y="2194560"/>
            <a:ext cx="24993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59480" y="2194560"/>
            <a:ext cx="41148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33800" y="2514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3800" y="2514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C8952A"/>
                </a:solidFill>
                <a:latin typeface="Calibri"/>
              </a:rPr>
              <a:t>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8160" y="2514600"/>
            <a:ext cx="1356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A1628"/>
                </a:solidFill>
                <a:latin typeface="Calibri"/>
              </a:rPr>
              <a:t>Admin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3800" y="3108960"/>
            <a:ext cx="195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Live analytics overview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94560"/>
            <a:ext cx="24993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160" y="2194560"/>
            <a:ext cx="41148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07480" y="2514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7480" y="2514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C8952A"/>
                </a:solidFill>
                <a:latin typeface="Calibri"/>
              </a:rPr>
              <a:t>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1840" y="2514600"/>
            <a:ext cx="1356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A1628"/>
                </a:solidFill>
                <a:latin typeface="Calibri"/>
              </a:rPr>
              <a:t>Student 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480" y="3108960"/>
            <a:ext cx="195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Profiles &amp; documents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2194560"/>
            <a:ext cx="24993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840" y="2194560"/>
            <a:ext cx="41148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81160" y="2514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60" y="2514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C8952A"/>
                </a:solidFill>
                <a:latin typeface="Calibri"/>
              </a:rPr>
              <a:t>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2514600"/>
            <a:ext cx="1356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A1628"/>
                </a:solidFill>
                <a:latin typeface="Calibri"/>
              </a:rPr>
              <a:t>Admission 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3108960"/>
            <a:ext cx="195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Three-page printable 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931920"/>
            <a:ext cx="24993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3931920"/>
            <a:ext cx="41148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0120" y="4251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251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C8952A"/>
                </a:solidFill>
                <a:latin typeface="Calibri"/>
              </a:rPr>
              <a:t>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4251960"/>
            <a:ext cx="1356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A1628"/>
                </a:solidFill>
                <a:latin typeface="Calibri"/>
              </a:rPr>
              <a:t>Fee Management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846320"/>
            <a:ext cx="195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Ledger &amp; pending dues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59480" y="3931920"/>
            <a:ext cx="24993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59480" y="3931920"/>
            <a:ext cx="41148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733800" y="4251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33800" y="4251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C8952A"/>
                </a:solidFill>
                <a:latin typeface="Calibri"/>
              </a:rPr>
              <a:t>✎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28160" y="4251960"/>
            <a:ext cx="1356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A1628"/>
                </a:solidFill>
                <a:latin typeface="Calibri"/>
              </a:rPr>
              <a:t>Online Exams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33800" y="4846320"/>
            <a:ext cx="195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MCQ tests &amp; instant results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33160" y="3931920"/>
            <a:ext cx="24993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33160" y="3931920"/>
            <a:ext cx="41148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507480" y="4251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07480" y="4251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C8952A"/>
                </a:solidFill>
                <a:latin typeface="Calibri"/>
              </a:rPr>
              <a:t>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01840" y="4251960"/>
            <a:ext cx="1356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A1628"/>
                </a:solidFill>
                <a:latin typeface="Calibri"/>
              </a:rPr>
              <a:t>Attendance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07480" y="4846320"/>
            <a:ext cx="195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Daily records &amp; reports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06840" y="3931920"/>
            <a:ext cx="24993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006840" y="3931920"/>
            <a:ext cx="41148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281160" y="4251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81160" y="4251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C8952A"/>
                </a:solidFill>
                <a:latin typeface="Calibri"/>
              </a:rPr>
              <a:t>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5520" y="4251960"/>
            <a:ext cx="1356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A1628"/>
                </a:solidFill>
                <a:latin typeface="Calibri"/>
              </a:rPr>
              <a:t>Notices &amp; WhatsApp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60" y="4846320"/>
            <a:ext cx="195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Alerts to parents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" y="6263640"/>
            <a:ext cx="7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40">
                <a:solidFill>
                  <a:srgbClr val="94A3B8"/>
                </a:solidFill>
                <a:latin typeface="Calibri"/>
              </a:rPr>
              <a:t>Shivrakshak Career Academy  ·  Academy Management System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49000" y="62636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C8952A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1188720"/>
            <a:ext cx="50292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9000" b="1">
                <a:solidFill>
                  <a:srgbClr val="142C47"/>
                </a:solidFill>
                <a:latin typeface="Calibri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286000"/>
            <a:ext cx="45720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60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20">
                <a:solidFill>
                  <a:srgbClr val="C8952A"/>
                </a:solidFill>
                <a:latin typeface="Calibri"/>
              </a:rPr>
              <a:t>SECTION FOUR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2608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The Live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3192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The finished product, running in production and in daily use at the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academy today.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80">
                <a:solidFill>
                  <a:srgbClr val="C8952A"/>
                </a:solidFill>
                <a:latin typeface="Calibri"/>
              </a:rPr>
              <a:t>13 · LIVE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A1628"/>
                </a:solidFill>
                <a:latin typeface="Calibri"/>
              </a:rPr>
              <a:t>Public Website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502920" cy="2286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103120"/>
            <a:ext cx="6035040" cy="3096013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03120"/>
            <a:ext cx="6035040" cy="22860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179320"/>
            <a:ext cx="76200" cy="76200"/>
          </a:xfrm>
          <a:prstGeom prst="ellipse">
            <a:avLst/>
          </a:prstGeom>
          <a:solidFill>
            <a:srgbClr val="E56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179320"/>
            <a:ext cx="76200" cy="76200"/>
          </a:xfrm>
          <a:prstGeom prst="ellipse">
            <a:avLst/>
          </a:prstGeom>
          <a:solidFill>
            <a:srgbClr val="E5B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8720" y="2179320"/>
            <a:ext cx="76200" cy="76200"/>
          </a:xfrm>
          <a:prstGeom prst="ellipse">
            <a:avLst/>
          </a:prstGeom>
          <a:solidFill>
            <a:srgbClr val="6CC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17320" y="2148840"/>
            <a:ext cx="4663440" cy="1371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2148840"/>
            <a:ext cx="448056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Calibri"/>
              </a:rPr>
              <a:t>shivrakshak-academy1-kappa.vercel.app</a:t>
            </a:r>
          </a:p>
        </p:txBody>
      </p:sp>
      <p:pic>
        <p:nvPicPr>
          <p:cNvPr id="12" name="Picture 11" descr="lan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31720"/>
            <a:ext cx="6035040" cy="286741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0" y="2194560"/>
            <a:ext cx="411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8952A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171700"/>
            <a:ext cx="3688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Marathi-First Interface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468880"/>
            <a:ext cx="3688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Every screen is written in Marathi so parents and students read it without help.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3063240"/>
            <a:ext cx="419100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3200400"/>
            <a:ext cx="411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8952A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177540"/>
            <a:ext cx="3688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Admin-Managed 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3474720"/>
            <a:ext cx="3688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Photographs, courses, results and notices are all updated from the admin panel.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4069080"/>
            <a:ext cx="419100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4206240"/>
            <a:ext cx="411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8952A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4183380"/>
            <a:ext cx="3688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Built for Mobile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4480560"/>
            <a:ext cx="3688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Most visitors arrive on a phone — the layout is designed for that first.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6263640"/>
            <a:ext cx="7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40">
                <a:solidFill>
                  <a:srgbClr val="94A3B8"/>
                </a:solidFill>
                <a:latin typeface="Calibri"/>
              </a:rPr>
              <a:t>Shivrakshak Career Academy  ·  Academy Management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9000" y="62636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C8952A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80">
                <a:solidFill>
                  <a:srgbClr val="C8952A"/>
                </a:solidFill>
                <a:latin typeface="Calibri"/>
              </a:rPr>
              <a:t>14 · LIVE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A1628"/>
                </a:solidFill>
                <a:latin typeface="Calibri"/>
              </a:rPr>
              <a:t>Course Catalogue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502920" cy="2286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103120"/>
            <a:ext cx="6035040" cy="3096013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03120"/>
            <a:ext cx="6035040" cy="22860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179320"/>
            <a:ext cx="76200" cy="76200"/>
          </a:xfrm>
          <a:prstGeom prst="ellipse">
            <a:avLst/>
          </a:prstGeom>
          <a:solidFill>
            <a:srgbClr val="E56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179320"/>
            <a:ext cx="76200" cy="76200"/>
          </a:xfrm>
          <a:prstGeom prst="ellipse">
            <a:avLst/>
          </a:prstGeom>
          <a:solidFill>
            <a:srgbClr val="E5B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8720" y="2179320"/>
            <a:ext cx="76200" cy="76200"/>
          </a:xfrm>
          <a:prstGeom prst="ellipse">
            <a:avLst/>
          </a:prstGeom>
          <a:solidFill>
            <a:srgbClr val="6CC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17320" y="2148840"/>
            <a:ext cx="4663440" cy="1371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2148840"/>
            <a:ext cx="448056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Calibri"/>
              </a:rPr>
              <a:t>shivrakshak-academy1-kappa.vercel.app/#courses</a:t>
            </a:r>
          </a:p>
        </p:txBody>
      </p:sp>
      <p:pic>
        <p:nvPicPr>
          <p:cNvPr id="12" name="Picture 11" descr="cours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31720"/>
            <a:ext cx="6035040" cy="286741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0" y="2194560"/>
            <a:ext cx="411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8952A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171700"/>
            <a:ext cx="3688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Four Training Tracks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468880"/>
            <a:ext cx="3688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Army, Police, SRPF and Written Exam batches, each with its own syllabus.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3063240"/>
            <a:ext cx="419100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3200400"/>
            <a:ext cx="411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8952A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177540"/>
            <a:ext cx="3688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Detailed Breakdown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3474720"/>
            <a:ext cx="3688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Every course lists the physical and written components it covers.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4069080"/>
            <a:ext cx="419100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4206240"/>
            <a:ext cx="411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8952A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4183380"/>
            <a:ext cx="3688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Database-Driven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4480560"/>
            <a:ext cx="3688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Courses are stored in Supabase, so new batches appear without a code change.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6263640"/>
            <a:ext cx="7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40">
                <a:solidFill>
                  <a:srgbClr val="94A3B8"/>
                </a:solidFill>
                <a:latin typeface="Calibri"/>
              </a:rPr>
              <a:t>Shivrakshak Career Academy  ·  Academy Management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9000" y="62636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C8952A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80">
                <a:solidFill>
                  <a:srgbClr val="C8952A"/>
                </a:solidFill>
                <a:latin typeface="Calibri"/>
              </a:rPr>
              <a:t>15 · LIVE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A1628"/>
                </a:solidFill>
                <a:latin typeface="Calibri"/>
              </a:rPr>
              <a:t>Online Admission 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502920" cy="2286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103120"/>
            <a:ext cx="6035040" cy="3096013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03120"/>
            <a:ext cx="6035040" cy="22860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179320"/>
            <a:ext cx="76200" cy="76200"/>
          </a:xfrm>
          <a:prstGeom prst="ellipse">
            <a:avLst/>
          </a:prstGeom>
          <a:solidFill>
            <a:srgbClr val="E56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179320"/>
            <a:ext cx="76200" cy="76200"/>
          </a:xfrm>
          <a:prstGeom prst="ellipse">
            <a:avLst/>
          </a:prstGeom>
          <a:solidFill>
            <a:srgbClr val="E5B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8720" y="2179320"/>
            <a:ext cx="76200" cy="76200"/>
          </a:xfrm>
          <a:prstGeom prst="ellipse">
            <a:avLst/>
          </a:prstGeom>
          <a:solidFill>
            <a:srgbClr val="6CC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17320" y="2148840"/>
            <a:ext cx="4663440" cy="1371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2148840"/>
            <a:ext cx="448056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Calibri"/>
              </a:rPr>
              <a:t>shivrakshak-academy1-kappa.vercel.app/admission</a:t>
            </a:r>
          </a:p>
        </p:txBody>
      </p:sp>
      <p:pic>
        <p:nvPicPr>
          <p:cNvPr id="12" name="Picture 11" descr="admis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31720"/>
            <a:ext cx="6035040" cy="286741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0" y="2194560"/>
            <a:ext cx="411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8952A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171700"/>
            <a:ext cx="3688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Four Guided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468880"/>
            <a:ext cx="3688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Personal details, course selection, document upload and a final review.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3063240"/>
            <a:ext cx="419100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3200400"/>
            <a:ext cx="411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8952A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177540"/>
            <a:ext cx="3688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Automatic Calculation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3474720"/>
            <a:ext cx="3688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Age, course duration and end date are computed as the form is filled.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4069080"/>
            <a:ext cx="419100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4206240"/>
            <a:ext cx="411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8952A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4183380"/>
            <a:ext cx="3688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Prints the Real 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4480560"/>
            <a:ext cx="3688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Generates the academy's exact three-page paper form as a PDF.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6263640"/>
            <a:ext cx="7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40">
                <a:solidFill>
                  <a:srgbClr val="94A3B8"/>
                </a:solidFill>
                <a:latin typeface="Calibri"/>
              </a:rPr>
              <a:t>Shivrakshak Career Academy  ·  Academy Management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9000" y="62636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C8952A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80">
                <a:solidFill>
                  <a:srgbClr val="C8952A"/>
                </a:solidFill>
                <a:latin typeface="Calibri"/>
              </a:rPr>
              <a:t>16 · LIVE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A1628"/>
                </a:solidFill>
                <a:latin typeface="Calibri"/>
              </a:rPr>
              <a:t>Secure Access Portals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502920" cy="2286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103120"/>
            <a:ext cx="5181600" cy="269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03120"/>
            <a:ext cx="5181600" cy="22860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179320"/>
            <a:ext cx="76200" cy="76200"/>
          </a:xfrm>
          <a:prstGeom prst="ellipse">
            <a:avLst/>
          </a:prstGeom>
          <a:solidFill>
            <a:srgbClr val="E56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179320"/>
            <a:ext cx="76200" cy="76200"/>
          </a:xfrm>
          <a:prstGeom prst="ellipse">
            <a:avLst/>
          </a:prstGeom>
          <a:solidFill>
            <a:srgbClr val="E5B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8720" y="2179320"/>
            <a:ext cx="76200" cy="76200"/>
          </a:xfrm>
          <a:prstGeom prst="ellipse">
            <a:avLst/>
          </a:prstGeom>
          <a:solidFill>
            <a:srgbClr val="6CC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17320" y="2148840"/>
            <a:ext cx="3810000" cy="1371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2148840"/>
            <a:ext cx="36271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Calibri"/>
              </a:rPr>
              <a:t>/admin/login</a:t>
            </a:r>
          </a:p>
        </p:txBody>
      </p:sp>
      <p:pic>
        <p:nvPicPr>
          <p:cNvPr id="12" name="Picture 11" descr="adminlog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31720"/>
            <a:ext cx="5181600" cy="2461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4937760"/>
            <a:ext cx="518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Calibri"/>
              </a:rPr>
              <a:t>Admin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64480"/>
            <a:ext cx="490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Supabase authentication with role checks. Only the academy's authorised account can reach student records.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24600" y="2103120"/>
            <a:ext cx="5181600" cy="269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24600" y="2103120"/>
            <a:ext cx="5181600" cy="22860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61760" y="2179320"/>
            <a:ext cx="76200" cy="76200"/>
          </a:xfrm>
          <a:prstGeom prst="ellipse">
            <a:avLst/>
          </a:prstGeom>
          <a:solidFill>
            <a:srgbClr val="E56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44640" y="2179320"/>
            <a:ext cx="76200" cy="76200"/>
          </a:xfrm>
          <a:prstGeom prst="ellipse">
            <a:avLst/>
          </a:prstGeom>
          <a:solidFill>
            <a:srgbClr val="E5B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27520" y="2179320"/>
            <a:ext cx="76200" cy="76200"/>
          </a:xfrm>
          <a:prstGeom prst="ellipse">
            <a:avLst/>
          </a:prstGeom>
          <a:solidFill>
            <a:srgbClr val="6CC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056120" y="2148840"/>
            <a:ext cx="3810000" cy="1371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47560" y="2148840"/>
            <a:ext cx="36271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Calibri"/>
              </a:rPr>
              <a:t>/student/login</a:t>
            </a:r>
          </a:p>
        </p:txBody>
      </p:sp>
      <p:pic>
        <p:nvPicPr>
          <p:cNvPr id="22" name="Picture 21" descr="stude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331720"/>
            <a:ext cx="5181600" cy="24619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24600" y="4937760"/>
            <a:ext cx="518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Calibri"/>
              </a:rPr>
              <a:t>Student Exam Portal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600" y="5364480"/>
            <a:ext cx="490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Students sign in with the ID printed on their admission form and a private password to take online tests.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6263640"/>
            <a:ext cx="7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40">
                <a:solidFill>
                  <a:srgbClr val="94A3B8"/>
                </a:solidFill>
                <a:latin typeface="Calibri"/>
              </a:rPr>
              <a:t>Shivrakshak Career Academy  ·  Academy Management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49000" y="62636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C8952A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80">
                <a:solidFill>
                  <a:srgbClr val="C8952A"/>
                </a:solidFill>
                <a:latin typeface="Calibri"/>
              </a:rPr>
              <a:t>17 · 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A1628"/>
                </a:solidFill>
                <a:latin typeface="Calibri"/>
              </a:rPr>
              <a:t>What the System Can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502920" cy="2286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194560"/>
            <a:ext cx="342392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94560"/>
            <a:ext cx="27432" cy="160020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514600"/>
            <a:ext cx="502920" cy="50292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C8952A"/>
                </a:solidFill>
                <a:latin typeface="Calibri"/>
              </a:rPr>
              <a:t>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278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A1628"/>
                </a:solidFill>
                <a:latin typeface="Calibri"/>
              </a:rPr>
              <a:t>Online Admission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278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Digital form that generates the academy's exact three-page printable PDF.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4040" y="2194560"/>
            <a:ext cx="342392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4040" y="2194560"/>
            <a:ext cx="27432" cy="160020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04080" y="2514600"/>
            <a:ext cx="502920" cy="50292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4080" y="25146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C8952A"/>
                </a:solidFill>
                <a:latin typeface="Calibri"/>
              </a:rPr>
              <a:t>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4080" y="3154680"/>
            <a:ext cx="278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A1628"/>
                </a:solidFill>
                <a:latin typeface="Calibri"/>
              </a:rPr>
              <a:t>Fee Ledger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4080" y="3474720"/>
            <a:ext cx="278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Paid amount and pending balance calculated for every student instantly.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2280" y="2194560"/>
            <a:ext cx="342392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2280" y="2194560"/>
            <a:ext cx="27432" cy="160020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02320" y="2514600"/>
            <a:ext cx="502920" cy="50292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2320" y="25146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C8952A"/>
                </a:solidFill>
                <a:latin typeface="Calibri"/>
              </a:rPr>
              <a:t>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2320" y="3154680"/>
            <a:ext cx="278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A1628"/>
                </a:solidFill>
                <a:latin typeface="Calibri"/>
              </a:rPr>
              <a:t>Online Examinations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2320" y="3474720"/>
            <a:ext cx="278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Timed MCQ tests with automatic evaluation and instant result.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114800"/>
            <a:ext cx="342392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4114800"/>
            <a:ext cx="27432" cy="160020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05840" y="4434840"/>
            <a:ext cx="502920" cy="50292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4348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C8952A"/>
                </a:solidFill>
                <a:latin typeface="Calibri"/>
              </a:rPr>
              <a:t>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074920"/>
            <a:ext cx="278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A1628"/>
                </a:solidFill>
                <a:latin typeface="Calibri"/>
              </a:rPr>
              <a:t>Attendance Tracking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394960"/>
            <a:ext cx="278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Daily marking with monthly percentage reports per batch.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4040" y="4114800"/>
            <a:ext cx="342392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84040" y="4114800"/>
            <a:ext cx="27432" cy="160020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704080" y="4434840"/>
            <a:ext cx="502920" cy="50292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4080" y="44348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C8952A"/>
                </a:solidFill>
                <a:latin typeface="Calibri"/>
              </a:rPr>
              <a:t>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4080" y="5074920"/>
            <a:ext cx="278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A1628"/>
                </a:solidFill>
                <a:latin typeface="Calibri"/>
              </a:rPr>
              <a:t>Parent Notifications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4080" y="5394960"/>
            <a:ext cx="278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WhatsApp reminders for pending fees and important notices.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82280" y="4114800"/>
            <a:ext cx="342392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82280" y="4114800"/>
            <a:ext cx="27432" cy="160020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402320" y="4434840"/>
            <a:ext cx="502920" cy="50292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02320" y="44348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C8952A"/>
                </a:solidFill>
                <a:latin typeface="Calibri"/>
              </a:rPr>
              <a:t>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02320" y="5074920"/>
            <a:ext cx="278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A1628"/>
                </a:solidFill>
                <a:latin typeface="Calibri"/>
              </a:rPr>
              <a:t>Role-Based Security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02320" y="5394960"/>
            <a:ext cx="278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Separate protected access for admin, staff and students.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6263640"/>
            <a:ext cx="7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40">
                <a:solidFill>
                  <a:srgbClr val="94A3B8"/>
                </a:solidFill>
                <a:latin typeface="Calibri"/>
              </a:rPr>
              <a:t>Shivrakshak Career Academy  ·  Academy Management System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49000" y="62636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C8952A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80">
                <a:solidFill>
                  <a:srgbClr val="C8952A"/>
                </a:solidFill>
                <a:latin typeface="Calibri"/>
              </a:rPr>
              <a:t>18 · SYSTEM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A1628"/>
                </a:solidFill>
                <a:latin typeface="Calibri"/>
              </a:rPr>
              <a:t>Existing System vs 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502920" cy="2286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011680"/>
            <a:ext cx="10820400" cy="50292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63240" y="2011680"/>
            <a:ext cx="4221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spc="160">
                <a:solidFill>
                  <a:srgbClr val="94A3B8"/>
                </a:solidFill>
                <a:latin typeface="Calibri"/>
              </a:rPr>
              <a:t>EXISTING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84720" y="2011680"/>
            <a:ext cx="4221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spc="160">
                <a:solidFill>
                  <a:srgbClr val="C8952A"/>
                </a:solidFill>
                <a:latin typeface="Calibri"/>
              </a:rPr>
              <a:t>PROPOSED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514600"/>
            <a:ext cx="10820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  <a:latin typeface="Calibri"/>
              </a:rPr>
              <a:t>Admission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514600"/>
            <a:ext cx="4038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Handwritten paper forms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84720" y="2514600"/>
            <a:ext cx="4038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A1628"/>
                </a:solidFill>
                <a:latin typeface="Calibri"/>
              </a:rPr>
              <a:t>Online form with auto-printed PDF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063240"/>
            <a:ext cx="10820400" cy="548640"/>
          </a:xfrm>
          <a:prstGeom prst="rect">
            <a:avLst/>
          </a:prstGeom>
          <a:solidFill>
            <a:srgbClr val="F7F9FC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06324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  <a:latin typeface="Calibri"/>
              </a:rPr>
              <a:t>Fee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063240"/>
            <a:ext cx="4038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Manual register &amp; receipts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4720" y="3063240"/>
            <a:ext cx="4038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A1628"/>
                </a:solidFill>
                <a:latin typeface="Calibri"/>
              </a:rPr>
              <a:t>Digital ledger with live balance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611880"/>
            <a:ext cx="10820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6118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  <a:latin typeface="Calibri"/>
              </a:rPr>
              <a:t>Examinations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611880"/>
            <a:ext cx="4038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Offline written tests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4720" y="3611880"/>
            <a:ext cx="4038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A1628"/>
                </a:solidFill>
                <a:latin typeface="Calibri"/>
              </a:rPr>
              <a:t>Online tests with instant results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160520"/>
            <a:ext cx="10820400" cy="548640"/>
          </a:xfrm>
          <a:prstGeom prst="rect">
            <a:avLst/>
          </a:prstGeom>
          <a:solidFill>
            <a:srgbClr val="F7F9FC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16052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  <a:latin typeface="Calibri"/>
              </a:rPr>
              <a:t>Attendance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4160520"/>
            <a:ext cx="4038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Roll-call in a notebook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4720" y="4160520"/>
            <a:ext cx="4038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A1628"/>
                </a:solidFill>
                <a:latin typeface="Calibri"/>
              </a:rPr>
              <a:t>Digital dashboard with reports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709160"/>
            <a:ext cx="10820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  <a:latin typeface="Calibri"/>
              </a:rPr>
              <a:t>Parent Contact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4709160"/>
            <a:ext cx="4038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Phone calls when remembered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84720" y="4709160"/>
            <a:ext cx="4038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A1628"/>
                </a:solidFill>
                <a:latin typeface="Calibri"/>
              </a:rPr>
              <a:t>Automated WhatsApp updates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257800"/>
            <a:ext cx="10820400" cy="548640"/>
          </a:xfrm>
          <a:prstGeom prst="rect">
            <a:avLst/>
          </a:prstGeom>
          <a:solidFill>
            <a:srgbClr val="F7F9FC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2578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  <a:latin typeface="Calibri"/>
              </a:rPr>
              <a:t>Data Safety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5257800"/>
            <a:ext cx="4038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Registers can be lost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84720" y="5257800"/>
            <a:ext cx="4038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A1628"/>
                </a:solidFill>
                <a:latin typeface="Calibri"/>
              </a:rPr>
              <a:t>Encrypted cloud with backups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6263640"/>
            <a:ext cx="7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40">
                <a:solidFill>
                  <a:srgbClr val="94A3B8"/>
                </a:solidFill>
                <a:latin typeface="Calibri"/>
              </a:rPr>
              <a:t>Shivrakshak Career Academy  ·  Academy Management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49000" y="62636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C8952A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80">
                <a:solidFill>
                  <a:srgbClr val="C8952A"/>
                </a:solidFill>
                <a:latin typeface="Calibri"/>
              </a:rPr>
              <a:t>19 · SYSTEM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A1628"/>
                </a:solidFill>
                <a:latin typeface="Calibri"/>
              </a:rPr>
              <a:t>Why It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502920" cy="2286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377440"/>
            <a:ext cx="249936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377440"/>
            <a:ext cx="249936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2499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0A1628"/>
                </a:solidFill>
                <a:latin typeface="Calibri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11880"/>
            <a:ext cx="2499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spc="160">
                <a:solidFill>
                  <a:srgbClr val="C8952A"/>
                </a:solidFill>
                <a:latin typeface="Calibri"/>
              </a:rPr>
              <a:t>PAPERLESS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1752600" y="4023360"/>
            <a:ext cx="36576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06240"/>
            <a:ext cx="1950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Every register replaced by a searchable digital record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9480" y="2377440"/>
            <a:ext cx="249936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59480" y="2377440"/>
            <a:ext cx="249936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2743200"/>
            <a:ext cx="2499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0A1628"/>
                </a:solidFill>
                <a:latin typeface="Calibri"/>
              </a:rPr>
              <a:t>3×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80" y="3611880"/>
            <a:ext cx="2499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spc="160">
                <a:solidFill>
                  <a:srgbClr val="C8952A"/>
                </a:solidFill>
                <a:latin typeface="Calibri"/>
              </a:rPr>
              <a:t>FASTER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4023360"/>
            <a:ext cx="36576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3800" y="4206240"/>
            <a:ext cx="1950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Admissions and fee entry completed in a fraction of the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377440"/>
            <a:ext cx="249936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160" y="2377440"/>
            <a:ext cx="249936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3160" y="2743200"/>
            <a:ext cx="2499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0A1628"/>
                </a:solidFill>
                <a:latin typeface="Calibr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3160" y="3611880"/>
            <a:ext cx="2499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spc="160">
                <a:solidFill>
                  <a:srgbClr val="C8952A"/>
                </a:solidFill>
                <a:latin typeface="Calibri"/>
              </a:rPr>
              <a:t>DATA LOSS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99960" y="4023360"/>
            <a:ext cx="36576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7480" y="4206240"/>
            <a:ext cx="1950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Automatic cloud backup protects every student record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2377440"/>
            <a:ext cx="249936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840" y="2377440"/>
            <a:ext cx="249936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2743200"/>
            <a:ext cx="2499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0A1628"/>
                </a:solidFill>
                <a:latin typeface="Calibri"/>
              </a:rPr>
              <a:t>24/7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3611880"/>
            <a:ext cx="2499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spc="160">
                <a:solidFill>
                  <a:srgbClr val="C8952A"/>
                </a:solidFill>
                <a:latin typeface="Calibri"/>
              </a:rPr>
              <a:t>AVAILABILITY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73640" y="4023360"/>
            <a:ext cx="36576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4206240"/>
            <a:ext cx="1950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Records reachable from any device, at any hour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6263640"/>
            <a:ext cx="7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40">
                <a:solidFill>
                  <a:srgbClr val="94A3B8"/>
                </a:solidFill>
                <a:latin typeface="Calibri"/>
              </a:rPr>
              <a:t>Shivrakshak Career Academy  ·  Academy Management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49000" y="62636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C8952A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80">
                <a:solidFill>
                  <a:srgbClr val="C8952A"/>
                </a:solidFill>
                <a:latin typeface="Calibri"/>
              </a:rPr>
              <a:t>20 ·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A1628"/>
                </a:solidFill>
                <a:latin typeface="Calibri"/>
              </a:rPr>
              <a:t>Planned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502920" cy="2286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194560"/>
            <a:ext cx="342392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94560"/>
            <a:ext cx="27432" cy="160020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514600"/>
            <a:ext cx="502920" cy="50292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C8952A"/>
                </a:solidFill>
                <a:latin typeface="Calibri"/>
              </a:rPr>
              <a:t>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278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A1628"/>
                </a:solidFill>
                <a:latin typeface="Calibri"/>
              </a:rPr>
              <a:t>Mobile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278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Native Android and iOS apps for students and parents.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4040" y="2194560"/>
            <a:ext cx="342392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4040" y="2194560"/>
            <a:ext cx="27432" cy="160020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04080" y="2514600"/>
            <a:ext cx="502920" cy="50292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4080" y="25146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C8952A"/>
                </a:solidFill>
                <a:latin typeface="Calibri"/>
              </a:rPr>
              <a:t>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4080" y="3154680"/>
            <a:ext cx="278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A1628"/>
                </a:solidFill>
                <a:latin typeface="Calibri"/>
              </a:rPr>
              <a:t>Face Attendance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4080" y="3474720"/>
            <a:ext cx="278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AI face recognition from a live camera feed at the gate.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2280" y="2194560"/>
            <a:ext cx="342392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2280" y="2194560"/>
            <a:ext cx="27432" cy="160020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02320" y="2514600"/>
            <a:ext cx="502920" cy="50292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2320" y="25146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C8952A"/>
                </a:solidFill>
                <a:latin typeface="Calibri"/>
              </a:rPr>
              <a:t>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2320" y="3154680"/>
            <a:ext cx="278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A1628"/>
                </a:solidFill>
                <a:latin typeface="Calibri"/>
              </a:rPr>
              <a:t>Online Payments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2320" y="3474720"/>
            <a:ext cx="278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UPI and payment-gateway integration for direct fee collection.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114800"/>
            <a:ext cx="342392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4114800"/>
            <a:ext cx="27432" cy="160020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05840" y="4434840"/>
            <a:ext cx="502920" cy="50292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4348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C8952A"/>
                </a:solidFill>
                <a:latin typeface="Calibri"/>
              </a:rPr>
              <a:t>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074920"/>
            <a:ext cx="278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A1628"/>
                </a:solidFill>
                <a:latin typeface="Calibri"/>
              </a:rPr>
              <a:t>Physical Test Records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394960"/>
            <a:ext cx="278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Running, long jump and high jump performance tracking.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4040" y="4114800"/>
            <a:ext cx="342392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84040" y="4114800"/>
            <a:ext cx="27432" cy="160020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704080" y="4434840"/>
            <a:ext cx="502920" cy="50292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4080" y="44348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C8952A"/>
                </a:solidFill>
                <a:latin typeface="Calibri"/>
              </a:rPr>
              <a:t>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4080" y="5074920"/>
            <a:ext cx="278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A1628"/>
                </a:solidFill>
                <a:latin typeface="Calibri"/>
              </a:rPr>
              <a:t>WhatsApp Business 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4080" y="5394960"/>
            <a:ext cx="278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Fully automated, template-based official messaging.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82280" y="4114800"/>
            <a:ext cx="342392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82280" y="4114800"/>
            <a:ext cx="27432" cy="160020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402320" y="4434840"/>
            <a:ext cx="502920" cy="50292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02320" y="44348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C8952A"/>
                </a:solidFill>
                <a:latin typeface="Calibri"/>
              </a:rPr>
              <a:t>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02320" y="5074920"/>
            <a:ext cx="278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A1628"/>
                </a:solidFill>
                <a:latin typeface="Calibri"/>
              </a:rPr>
              <a:t>Multi-Branch Support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02320" y="5394960"/>
            <a:ext cx="278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A single dashboard managing an academy franchise network.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6263640"/>
            <a:ext cx="7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40">
                <a:solidFill>
                  <a:srgbClr val="94A3B8"/>
                </a:solidFill>
                <a:latin typeface="Calibri"/>
              </a:rPr>
              <a:t>Shivrakshak Career Academy  ·  Academy Management System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49000" y="62636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C8952A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noFill/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82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20">
                <a:solidFill>
                  <a:srgbClr val="C8952A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Bringing Discipline into the Digital 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94560"/>
            <a:ext cx="457200" cy="27432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743200"/>
            <a:ext cx="3302000" cy="9525"/>
          </a:xfrm>
          <a:prstGeom prst="rect">
            <a:avLst/>
          </a:prstGeom>
          <a:solidFill>
            <a:srgbClr val="1E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971800"/>
            <a:ext cx="330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Modernises the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20440"/>
            <a:ext cx="3027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94A3B8"/>
                </a:solidFill>
                <a:latin typeface="Calibri"/>
              </a:rPr>
              <a:t>Every paper register is replaced by a secure, searchable digital record that cannot be lost.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45000" y="2743200"/>
            <a:ext cx="3302000" cy="9525"/>
          </a:xfrm>
          <a:prstGeom prst="rect">
            <a:avLst/>
          </a:prstGeom>
          <a:solidFill>
            <a:srgbClr val="1E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5000" y="2971800"/>
            <a:ext cx="330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Connects Parents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5000" y="3520440"/>
            <a:ext cx="3027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94A3B8"/>
                </a:solidFill>
                <a:latin typeface="Calibri"/>
              </a:rPr>
              <a:t>Fee dues, attendance and exam results now reach families the moment they change.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4200" y="2743200"/>
            <a:ext cx="3302000" cy="9525"/>
          </a:xfrm>
          <a:prstGeom prst="rect">
            <a:avLst/>
          </a:prstGeom>
          <a:solidFill>
            <a:srgbClr val="1E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4200" y="2971800"/>
            <a:ext cx="330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Builds Accuracy &amp; Trust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4200" y="3520440"/>
            <a:ext cx="3027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94A3B8"/>
                </a:solidFill>
                <a:latin typeface="Calibri"/>
              </a:rPr>
              <a:t>Automated calculation removes human error from every receipt and every ledger entry.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303520"/>
            <a:ext cx="1082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E5C173"/>
                </a:solidFill>
                <a:latin typeface="Calibri"/>
              </a:rPr>
              <a:t>The system is live in production and in daily use at Shivrakshak Career Academy, Ahmednagar.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2743200"/>
            <a:ext cx="5486400" cy="5486400"/>
          </a:xfrm>
          <a:prstGeom prst="ellipse">
            <a:avLst/>
          </a:prstGeom>
          <a:noFill/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0" y="-1828800"/>
            <a:ext cx="5486400" cy="5486400"/>
          </a:xfrm>
          <a:prstGeom prst="ellipse">
            <a:avLst/>
          </a:prstGeom>
          <a:noFill/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0" y="2011680"/>
            <a:ext cx="1219200" cy="18288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1082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83280"/>
            <a:ext cx="1082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E5C173"/>
                </a:solidFill>
                <a:latin typeface="Calibri"/>
              </a:rPr>
              <a:t>Questions are welcome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0" y="4114800"/>
            <a:ext cx="6248400" cy="9525"/>
          </a:xfrm>
          <a:prstGeom prst="rect">
            <a:avLst/>
          </a:prstGeom>
          <a:solidFill>
            <a:srgbClr val="1E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89120"/>
            <a:ext cx="1082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Navnath Babasaheb Jangale   ·   Diksha Kiran Kadam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54880"/>
            <a:ext cx="1082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>
                <a:solidFill>
                  <a:srgbClr val="94A3B8"/>
                </a:solidFill>
                <a:latin typeface="Calibri"/>
              </a:rPr>
              <a:t>Guided by Prof. Bingare M. B. Madam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303520"/>
            <a:ext cx="1082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spc="80">
                <a:solidFill>
                  <a:srgbClr val="94A3B8"/>
                </a:solidFill>
                <a:latin typeface="Calibri"/>
              </a:rPr>
              <a:t>M.Sc. Computer Science II  ·  New Arts, Commerce and Science College, Ahmednagar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C8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